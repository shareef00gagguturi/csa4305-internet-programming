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807" r:id="rId1"/>
  </p:sldMasterIdLst>
  <p:notesMasterIdLst>
    <p:notesMasterId r:id="rId17"/>
  </p:notesMasterIdLst>
  <p:sldIdLst>
    <p:sldId id="256" r:id="rId2"/>
    <p:sldId id="290" r:id="rId3"/>
    <p:sldId id="257" r:id="rId4"/>
    <p:sldId id="258" r:id="rId5"/>
    <p:sldId id="282" r:id="rId6"/>
    <p:sldId id="269" r:id="rId7"/>
    <p:sldId id="280" r:id="rId8"/>
    <p:sldId id="278" r:id="rId9"/>
    <p:sldId id="288" r:id="rId10"/>
    <p:sldId id="289" r:id="rId11"/>
    <p:sldId id="286" r:id="rId12"/>
    <p:sldId id="285" r:id="rId13"/>
    <p:sldId id="291" r:id="rId14"/>
    <p:sldId id="292" r:id="rId15"/>
    <p:sldId id="268" r:id="rId16"/>
  </p:sldIdLst>
  <p:sldSz cx="18288000" cy="10287000"/>
  <p:notesSz cx="6858000" cy="9144000"/>
  <p:embeddedFontLst>
    <p:embeddedFont>
      <p:font typeface="Calibri (MS)" panose="020B0604020202020204" charset="0"/>
      <p:regular r:id="rId18"/>
    </p:embeddedFont>
    <p:embeddedFont>
      <p:font typeface="Corbel" panose="020B0503020204020204" pitchFamily="34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889352-DF5F-421E-A151-7A8CC2B7B62F}" v="38" dt="2026-07-28T05:04:20.0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8633EA-39DA-47FF-9F8E-652B1442ED8E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CE5A91-1574-4EC4-9E1E-3B6E1A293C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581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CE5A91-1574-4EC4-9E1E-3B6E1A293C29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5006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819150" y="-7144"/>
            <a:ext cx="7522368" cy="10294145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92602" y="2070103"/>
            <a:ext cx="12861933" cy="3924299"/>
          </a:xfrm>
        </p:spPr>
        <p:txBody>
          <a:bodyPr anchor="b">
            <a:normAutofit/>
          </a:bodyPr>
          <a:lstStyle>
            <a:lvl1pPr algn="r">
              <a:defRPr sz="9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73066" y="5994401"/>
            <a:ext cx="10481468" cy="2082801"/>
          </a:xfrm>
        </p:spPr>
        <p:txBody>
          <a:bodyPr anchor="t">
            <a:normAutofit/>
          </a:bodyPr>
          <a:lstStyle>
            <a:lvl1pPr marL="0" indent="0" algn="r">
              <a:buNone/>
              <a:defRPr sz="3150">
                <a:solidFill>
                  <a:schemeClr val="tx1"/>
                </a:soli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998618" y="8824913"/>
            <a:ext cx="6486066" cy="547688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883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6427785" y="8800697"/>
            <a:ext cx="826751" cy="54768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344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8419" y="4000498"/>
            <a:ext cx="13396121" cy="3165573"/>
          </a:xfrm>
        </p:spPr>
        <p:txBody>
          <a:bodyPr anchor="b"/>
          <a:lstStyle>
            <a:lvl1pPr algn="r">
              <a:defRPr sz="6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58417" y="7166072"/>
            <a:ext cx="13396122" cy="1290600"/>
          </a:xfrm>
        </p:spPr>
        <p:txBody>
          <a:bodyPr anchor="t">
            <a:normAutofit/>
          </a:bodyPr>
          <a:lstStyle>
            <a:lvl1pPr marL="0" indent="0" algn="r">
              <a:buNone/>
              <a:defRPr sz="30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515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6467" y="1028701"/>
            <a:ext cx="15028070" cy="26288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26469" y="4000499"/>
            <a:ext cx="7342583" cy="4686302"/>
          </a:xfrm>
        </p:spPr>
        <p:txBody>
          <a:bodyPr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1951" y="4000500"/>
            <a:ext cx="7342584" cy="4686300"/>
          </a:xfrm>
        </p:spPr>
        <p:txBody>
          <a:bodyPr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294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58269" y="3987800"/>
            <a:ext cx="6910782" cy="864393"/>
          </a:xfrm>
        </p:spPr>
        <p:txBody>
          <a:bodyPr anchor="b">
            <a:noAutofit/>
          </a:bodyPr>
          <a:lstStyle>
            <a:lvl1pPr marL="0" indent="0">
              <a:buNone/>
              <a:defRPr sz="4200" b="0">
                <a:solidFill>
                  <a:schemeClr val="accent1">
                    <a:lumMod val="75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6467" y="5003006"/>
            <a:ext cx="7342584" cy="3683793"/>
          </a:xfrm>
        </p:spPr>
        <p:txBody>
          <a:bodyPr anchor="t"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320731" y="4000500"/>
            <a:ext cx="6933806" cy="864393"/>
          </a:xfrm>
        </p:spPr>
        <p:txBody>
          <a:bodyPr anchor="b">
            <a:noAutofit/>
          </a:bodyPr>
          <a:lstStyle>
            <a:lvl1pPr marL="0" indent="0">
              <a:buNone/>
              <a:defRPr sz="4200" b="0">
                <a:solidFill>
                  <a:schemeClr val="accent1">
                    <a:lumMod val="75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911951" y="5003006"/>
            <a:ext cx="7342584" cy="3683793"/>
          </a:xfrm>
        </p:spPr>
        <p:txBody>
          <a:bodyPr anchor="t"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349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954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062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6469" y="2400300"/>
            <a:ext cx="5323682" cy="2057400"/>
          </a:xfrm>
        </p:spPr>
        <p:txBody>
          <a:bodyPr anchor="b">
            <a:normAutofit/>
          </a:bodyPr>
          <a:lstStyle>
            <a:lvl1pPr algn="ctr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93050" y="1028699"/>
            <a:ext cx="9361485" cy="7658102"/>
          </a:xfrm>
        </p:spPr>
        <p:txBody>
          <a:bodyPr anchor="ctr">
            <a:normAutofit/>
          </a:bodyPr>
          <a:lstStyle>
            <a:lvl1pPr>
              <a:defRPr sz="30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26469" y="4457700"/>
            <a:ext cx="5323682" cy="274320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948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4086" y="2628899"/>
            <a:ext cx="8139237" cy="2057400"/>
          </a:xfrm>
        </p:spPr>
        <p:txBody>
          <a:bodyPr anchor="b">
            <a:normAutofit/>
          </a:bodyPr>
          <a:lstStyle>
            <a:lvl1pPr algn="ctr">
              <a:defRPr sz="4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392023" y="1371600"/>
            <a:ext cx="4921461" cy="6858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24086" y="4686299"/>
            <a:ext cx="8139237" cy="2743200"/>
          </a:xfrm>
        </p:spPr>
        <p:txBody>
          <a:bodyPr>
            <a:normAutofit/>
          </a:bodyPr>
          <a:lstStyle>
            <a:lvl1pPr marL="0" indent="0" algn="ctr">
              <a:buNone/>
              <a:defRPr sz="27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301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6467" y="7099298"/>
            <a:ext cx="15028067" cy="850107"/>
          </a:xfrm>
        </p:spPr>
        <p:txBody>
          <a:bodyPr anchor="b">
            <a:normAutofit/>
          </a:bodyPr>
          <a:lstStyle>
            <a:lvl1pPr algn="ctr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9018" y="1398168"/>
            <a:ext cx="12338916" cy="4747464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26467" y="7949405"/>
            <a:ext cx="15028067" cy="740568"/>
          </a:xfrm>
        </p:spPr>
        <p:txBody>
          <a:bodyPr>
            <a:normAutofit/>
          </a:bodyPr>
          <a:lstStyle>
            <a:lvl1pPr marL="0" indent="0" algn="ctr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533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6469" y="1028700"/>
            <a:ext cx="15028067" cy="4572000"/>
          </a:xfrm>
        </p:spPr>
        <p:txBody>
          <a:bodyPr anchor="ctr">
            <a:normAutofit/>
          </a:bodyPr>
          <a:lstStyle>
            <a:lvl1pPr algn="ctr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6469" y="6515100"/>
            <a:ext cx="15028070" cy="21717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30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861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2397918" y="1294535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12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340138" y="4229099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2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2318" y="1028701"/>
            <a:ext cx="13485018" cy="4114799"/>
          </a:xfrm>
        </p:spPr>
        <p:txBody>
          <a:bodyPr anchor="ctr">
            <a:normAutofit/>
          </a:bodyPr>
          <a:lstStyle>
            <a:lvl1pPr algn="ctr">
              <a:defRPr sz="48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655217" y="5143499"/>
            <a:ext cx="12799223" cy="5715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2700"/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6467" y="6515100"/>
            <a:ext cx="15028067" cy="21717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30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58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6470" y="4962872"/>
            <a:ext cx="15028064" cy="2203200"/>
          </a:xfrm>
        </p:spPr>
        <p:txBody>
          <a:bodyPr anchor="b">
            <a:normAutofit/>
          </a:bodyPr>
          <a:lstStyle>
            <a:lvl1pPr algn="r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6468" y="7166072"/>
            <a:ext cx="15028065" cy="1290600"/>
          </a:xfrm>
        </p:spPr>
        <p:txBody>
          <a:bodyPr anchor="t">
            <a:normAutofit/>
          </a:bodyPr>
          <a:lstStyle>
            <a:lvl1pPr marL="0" indent="0" algn="r">
              <a:buNone/>
              <a:defRPr sz="30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5680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2397918" y="1294535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12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340138" y="4229099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2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2318" y="1028701"/>
            <a:ext cx="13485018" cy="4114799"/>
          </a:xfrm>
        </p:spPr>
        <p:txBody>
          <a:bodyPr anchor="ctr">
            <a:normAutofit/>
          </a:bodyPr>
          <a:lstStyle>
            <a:lvl1pPr algn="ctr">
              <a:defRPr sz="48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226470" y="5829300"/>
            <a:ext cx="15028065" cy="13335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36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6468" y="7162800"/>
            <a:ext cx="15028065" cy="1524000"/>
          </a:xfrm>
        </p:spPr>
        <p:txBody>
          <a:bodyPr anchor="t">
            <a:normAutofit/>
          </a:bodyPr>
          <a:lstStyle>
            <a:lvl1pPr marL="0" indent="0" algn="r">
              <a:buNone/>
              <a:defRPr sz="27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1128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6470" y="1028701"/>
            <a:ext cx="15028068" cy="409098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226469" y="5257800"/>
            <a:ext cx="15028070" cy="12573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42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6467" y="6515100"/>
            <a:ext cx="15028070" cy="2171700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solidFill>
                  <a:schemeClr val="tx1"/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9082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2192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598983" y="1028700"/>
            <a:ext cx="2655554" cy="7658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6468" y="1028700"/>
            <a:ext cx="12029613" cy="76581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439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226219" y="1"/>
            <a:ext cx="3655220" cy="10287002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26467" y="1028701"/>
            <a:ext cx="15028070" cy="26288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6466" y="4000499"/>
            <a:ext cx="15028070" cy="46863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598984" y="8824913"/>
            <a:ext cx="17145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D8BD707-D9CF-40AE-B4C6-C98DA3205C09}" type="datetimeFigureOut">
              <a:rPr lang="en-US" smtClean="0"/>
              <a:pPr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58419" y="8824913"/>
            <a:ext cx="10626266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427785" y="8824913"/>
            <a:ext cx="826751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755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8" r:id="rId1"/>
    <p:sldLayoutId id="2147483809" r:id="rId2"/>
    <p:sldLayoutId id="2147483810" r:id="rId3"/>
    <p:sldLayoutId id="2147483811" r:id="rId4"/>
    <p:sldLayoutId id="2147483812" r:id="rId5"/>
    <p:sldLayoutId id="2147483813" r:id="rId6"/>
    <p:sldLayoutId id="2147483814" r:id="rId7"/>
    <p:sldLayoutId id="2147483815" r:id="rId8"/>
    <p:sldLayoutId id="2147483816" r:id="rId9"/>
    <p:sldLayoutId id="2147483817" r:id="rId10"/>
    <p:sldLayoutId id="2147483818" r:id="rId11"/>
    <p:sldLayoutId id="2147483819" r:id="rId12"/>
    <p:sldLayoutId id="2147483820" r:id="rId13"/>
    <p:sldLayoutId id="2147483821" r:id="rId14"/>
    <p:sldLayoutId id="2147483822" r:id="rId15"/>
    <p:sldLayoutId id="2147483823" r:id="rId16"/>
    <p:sldLayoutId id="2147483824" r:id="rId17"/>
  </p:sldLayoutIdLst>
  <p:txStyles>
    <p:titleStyle>
      <a:lvl1pPr algn="ctr" defTabSz="685800" rtl="0" eaLnBrk="1" latinLnBrk="0" hangingPunct="1">
        <a:spcBef>
          <a:spcPct val="0"/>
        </a:spcBef>
        <a:buNone/>
        <a:defRPr sz="6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28625" indent="-428625" algn="l" defTabSz="685800" rtl="0" eaLnBrk="1" latinLnBrk="0" hangingPunct="1">
        <a:spcBef>
          <a:spcPct val="20000"/>
        </a:spcBef>
        <a:spcAft>
          <a:spcPts val="9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3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1114425" indent="-428625" algn="l" defTabSz="685800" rtl="0" eaLnBrk="1" latinLnBrk="0" hangingPunct="1">
        <a:spcBef>
          <a:spcPct val="20000"/>
        </a:spcBef>
        <a:spcAft>
          <a:spcPts val="9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3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800225" indent="-428625" algn="l" defTabSz="685800" rtl="0" eaLnBrk="1" latinLnBrk="0" hangingPunct="1">
        <a:spcBef>
          <a:spcPct val="20000"/>
        </a:spcBef>
        <a:spcAft>
          <a:spcPts val="9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7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2314575" indent="-257175" algn="l" defTabSz="685800" rtl="0" eaLnBrk="1" latinLnBrk="0" hangingPunct="1">
        <a:spcBef>
          <a:spcPct val="20000"/>
        </a:spcBef>
        <a:spcAft>
          <a:spcPts val="9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3000375" indent="-257175" algn="l" defTabSz="685800" rtl="0" eaLnBrk="1" latinLnBrk="0" hangingPunct="1">
        <a:spcBef>
          <a:spcPct val="20000"/>
        </a:spcBef>
        <a:spcAft>
          <a:spcPts val="9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1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3771900" indent="-342900" algn="l" defTabSz="685800" rtl="0" eaLnBrk="1" latinLnBrk="0" hangingPunct="1">
        <a:spcBef>
          <a:spcPct val="20000"/>
        </a:spcBef>
        <a:spcAft>
          <a:spcPts val="9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1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4457700" indent="-342900" algn="l" defTabSz="685800" rtl="0" eaLnBrk="1" latinLnBrk="0" hangingPunct="1">
        <a:spcBef>
          <a:spcPct val="20000"/>
        </a:spcBef>
        <a:spcAft>
          <a:spcPts val="9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1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5143500" indent="-342900" algn="l" defTabSz="685800" rtl="0" eaLnBrk="1" latinLnBrk="0" hangingPunct="1">
        <a:spcBef>
          <a:spcPct val="20000"/>
        </a:spcBef>
        <a:spcAft>
          <a:spcPts val="9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1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5829300" indent="-342900" algn="l" defTabSz="685800" rtl="0" eaLnBrk="1" latinLnBrk="0" hangingPunct="1">
        <a:spcBef>
          <a:spcPct val="20000"/>
        </a:spcBef>
        <a:spcAft>
          <a:spcPts val="9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1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95400" y="812673"/>
            <a:ext cx="13792200" cy="5082730"/>
            <a:chOff x="-4956556" y="-3676141"/>
            <a:chExt cx="18389600" cy="67769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814079" cy="3100834"/>
            </a:xfrm>
            <a:custGeom>
              <a:avLst/>
              <a:gdLst/>
              <a:ahLst/>
              <a:cxnLst/>
              <a:rect l="l" t="t" r="r" b="b"/>
              <a:pathLst>
                <a:path w="11814079" h="3100834">
                  <a:moveTo>
                    <a:pt x="0" y="0"/>
                  </a:moveTo>
                  <a:lnTo>
                    <a:pt x="11814079" y="0"/>
                  </a:lnTo>
                  <a:lnTo>
                    <a:pt x="11814079" y="3100834"/>
                  </a:lnTo>
                  <a:lnTo>
                    <a:pt x="0" y="31008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-4956556" y="-3676141"/>
              <a:ext cx="18389600" cy="268579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/>
              <a:r>
                <a:rPr lang="en-IN" sz="4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AlumniConnect: A Web-Based Alumni Tracking and Networking System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444300" y="2324670"/>
            <a:ext cx="10439400" cy="4381406"/>
            <a:chOff x="44226" y="-2402716"/>
            <a:chExt cx="13227050" cy="5841875"/>
          </a:xfrm>
        </p:grpSpPr>
        <p:sp>
          <p:nvSpPr>
            <p:cNvPr id="6" name="Freeform 6"/>
            <p:cNvSpPr/>
            <p:nvPr/>
          </p:nvSpPr>
          <p:spPr>
            <a:xfrm>
              <a:off x="44226" y="-727711"/>
              <a:ext cx="13227050" cy="4166870"/>
            </a:xfrm>
            <a:custGeom>
              <a:avLst/>
              <a:gdLst/>
              <a:ahLst/>
              <a:cxnLst/>
              <a:rect l="l" t="t" r="r" b="b"/>
              <a:pathLst>
                <a:path w="13227050" h="4166870">
                  <a:moveTo>
                    <a:pt x="0" y="0"/>
                  </a:moveTo>
                  <a:lnTo>
                    <a:pt x="13227050" y="0"/>
                  </a:lnTo>
                  <a:lnTo>
                    <a:pt x="13227050" y="4166870"/>
                  </a:lnTo>
                  <a:lnTo>
                    <a:pt x="0" y="41668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4226" y="-2402716"/>
              <a:ext cx="13227050" cy="437007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4860"/>
                </a:lnSpc>
              </a:pPr>
              <a:r>
                <a:rPr lang="en-US" sz="2800" spc="-15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Calibri (MS)"/>
                  <a:cs typeface="Times New Roman" panose="02020603050405020304" pitchFamily="18" charset="0"/>
                  <a:sym typeface="Calibri (MS)"/>
                </a:rPr>
                <a:t>Presented by:</a:t>
              </a:r>
            </a:p>
            <a:p>
              <a:pPr algn="ctr">
                <a:lnSpc>
                  <a:spcPts val="4860"/>
                </a:lnSpc>
              </a:pPr>
              <a:r>
                <a:rPr lang="en-US" sz="2800" spc="-15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Calibri (MS)"/>
                  <a:cs typeface="Times New Roman" panose="02020603050405020304" pitchFamily="18" charset="0"/>
                  <a:sym typeface="Calibri (MS)"/>
                </a:rPr>
                <a:t>T.Rupendra</a:t>
              </a:r>
              <a:r>
                <a:rPr lang="en-US" sz="2800" spc="-15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Calibri (MS)"/>
                  <a:cs typeface="Times New Roman" panose="02020603050405020304" pitchFamily="18" charset="0"/>
                  <a:sym typeface="Calibri (MS)"/>
                </a:rPr>
                <a:t> (192311325)</a:t>
              </a:r>
            </a:p>
            <a:p>
              <a:pPr algn="ctr">
                <a:lnSpc>
                  <a:spcPts val="4860"/>
                </a:lnSpc>
              </a:pPr>
              <a:r>
                <a:rPr lang="en-US" sz="2800" spc="-12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Calibri (MS)"/>
                  <a:cs typeface="Times New Roman" panose="02020603050405020304" pitchFamily="18" charset="0"/>
                  <a:sym typeface="Calibri (MS)"/>
                </a:rPr>
                <a:t> </a:t>
              </a:r>
              <a:r>
                <a:rPr lang="en-US" sz="2800" spc="-12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Calibri (MS)"/>
                  <a:cs typeface="Times New Roman" panose="02020603050405020304" pitchFamily="18" charset="0"/>
                  <a:sym typeface="Calibri (MS)"/>
                </a:rPr>
                <a:t>G.Mohammad</a:t>
              </a:r>
              <a:r>
                <a:rPr lang="en-US" sz="2800" spc="-12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Calibri (MS)"/>
                  <a:cs typeface="Times New Roman" panose="02020603050405020304" pitchFamily="18" charset="0"/>
                  <a:sym typeface="Calibri (MS)"/>
                </a:rPr>
                <a:t> shareef(192311288)</a:t>
              </a:r>
            </a:p>
            <a:p>
              <a:pPr algn="ctr">
                <a:lnSpc>
                  <a:spcPts val="4860"/>
                </a:lnSpc>
              </a:pPr>
              <a:r>
                <a:rPr lang="en-US" sz="2800" spc="-12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Calibri (MS)"/>
                  <a:cs typeface="Times New Roman" panose="02020603050405020304" pitchFamily="18" charset="0"/>
                  <a:sym typeface="Calibri (MS)"/>
                </a:rPr>
                <a:t>Ch.sathish</a:t>
              </a:r>
              <a:r>
                <a:rPr lang="en-US" sz="2800" spc="-12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Calibri (MS)"/>
                  <a:cs typeface="Times New Roman" panose="02020603050405020304" pitchFamily="18" charset="0"/>
                  <a:sym typeface="Calibri (MS)"/>
                </a:rPr>
                <a:t>(192311032)</a:t>
              </a:r>
            </a:p>
            <a:p>
              <a:pPr algn="ctr">
                <a:lnSpc>
                  <a:spcPts val="4860"/>
                </a:lnSpc>
              </a:pPr>
              <a:r>
                <a:rPr lang="en-US" sz="2800" spc="-12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Calibri (MS)"/>
                  <a:cs typeface="Times New Roman" panose="02020603050405020304" pitchFamily="18" charset="0"/>
                  <a:sym typeface="Calibri (MS)"/>
                </a:rPr>
                <a:t>K </a:t>
              </a:r>
              <a:r>
                <a:rPr lang="en-US" sz="2800" spc="-12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Calibri (MS)"/>
                  <a:cs typeface="Times New Roman" panose="02020603050405020304" pitchFamily="18" charset="0"/>
                  <a:sym typeface="Calibri (MS)"/>
                </a:rPr>
                <a:t>Manjunadha</a:t>
              </a:r>
              <a:r>
                <a:rPr lang="en-US" sz="2800" spc="-12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Calibri (MS)"/>
                  <a:cs typeface="Times New Roman" panose="02020603050405020304" pitchFamily="18" charset="0"/>
                  <a:sym typeface="Calibri (MS)"/>
                </a:rPr>
                <a:t> Reddy(192372081)</a:t>
              </a:r>
            </a:p>
            <a:p>
              <a:pPr algn="ctr">
                <a:lnSpc>
                  <a:spcPts val="4860"/>
                </a:lnSpc>
              </a:pPr>
              <a:endParaRPr lang="en-US" sz="2800" spc="-12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 (MS)"/>
                <a:cs typeface="Times New Roman" panose="02020603050405020304" pitchFamily="18" charset="0"/>
                <a:sym typeface="Calibri (MS)"/>
              </a:endParaRPr>
            </a:p>
            <a:p>
              <a:pPr marL="6350" marR="199390" indent="-6350" algn="ctr">
                <a:lnSpc>
                  <a:spcPct val="107000"/>
                </a:lnSpc>
                <a:spcAft>
                  <a:spcPts val="730"/>
                </a:spcAft>
              </a:pPr>
              <a:r>
                <a:rPr lang="en-US" sz="2800" kern="0" dirty="0">
                  <a:effectLst/>
                  <a:latin typeface="Times New Roman" panose="02020603050405020304" pitchFamily="18" charset="0"/>
                </a:rPr>
                <a:t>Under the Supervision of:</a:t>
              </a:r>
            </a:p>
            <a:p>
              <a:pPr marL="6350" marR="199390" indent="-6350" algn="ctr">
                <a:lnSpc>
                  <a:spcPct val="107000"/>
                </a:lnSpc>
                <a:spcAft>
                  <a:spcPts val="730"/>
                </a:spcAft>
              </a:pPr>
              <a:r>
                <a:rPr lang="en-US" sz="2800" kern="0" dirty="0" err="1">
                  <a:effectLst/>
                  <a:latin typeface="Times New Roman" panose="02020603050405020304" pitchFamily="18" charset="0"/>
                </a:rPr>
                <a:t>Dr.</a:t>
              </a:r>
              <a:r>
                <a:rPr lang="en-US" sz="2800" kern="0" dirty="0" err="1">
                  <a:latin typeface="Times New Roman" panose="02020603050405020304" pitchFamily="18" charset="0"/>
                </a:rPr>
                <a:t>Sudhagar</a:t>
              </a:r>
              <a:r>
                <a:rPr lang="en-US" sz="2800" kern="0" dirty="0">
                  <a:effectLst/>
                  <a:latin typeface="Times New Roman" panose="02020603050405020304" pitchFamily="18" charset="0"/>
                </a:rPr>
                <a:t> D</a:t>
              </a:r>
            </a:p>
            <a:p>
              <a:pPr marL="6350" marR="199390" indent="-6350" algn="ctr">
                <a:lnSpc>
                  <a:spcPct val="107000"/>
                </a:lnSpc>
                <a:spcAft>
                  <a:spcPts val="730"/>
                </a:spcAft>
              </a:pPr>
              <a:endParaRPr lang="en-US" sz="2800" spc="-12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 (MS)"/>
                <a:cs typeface="Times New Roman" panose="02020603050405020304" pitchFamily="18" charset="0"/>
                <a:sym typeface="Calibri (MS)"/>
              </a:endParaRPr>
            </a:p>
            <a:p>
              <a:pPr algn="ctr">
                <a:lnSpc>
                  <a:spcPts val="4860"/>
                </a:lnSpc>
              </a:pPr>
              <a:r>
                <a:rPr lang="en-US" sz="2800" spc="-15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Calibri (MS)"/>
                  <a:cs typeface="Times New Roman" panose="02020603050405020304" pitchFamily="18" charset="0"/>
                  <a:sym typeface="Calibri (MS)"/>
                </a:rPr>
                <a:t>Internet Programming - CSA4305</a:t>
              </a:r>
            </a:p>
            <a:p>
              <a:pPr algn="ctr">
                <a:lnSpc>
                  <a:spcPts val="4860"/>
                </a:lnSpc>
              </a:pPr>
              <a:endParaRPr lang="en-US" sz="2800" spc="-15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 (MS)"/>
                <a:cs typeface="Times New Roman" panose="02020603050405020304" pitchFamily="18" charset="0"/>
                <a:sym typeface="Calibri (MS)"/>
              </a:endParaRPr>
            </a:p>
          </p:txBody>
        </p:sp>
      </p:grpSp>
      <p:sp>
        <p:nvSpPr>
          <p:cNvPr id="8" name="Freeform 8"/>
          <p:cNvSpPr/>
          <p:nvPr/>
        </p:nvSpPr>
        <p:spPr>
          <a:xfrm>
            <a:off x="1137" y="0"/>
            <a:ext cx="2280093" cy="2014347"/>
          </a:xfrm>
          <a:custGeom>
            <a:avLst/>
            <a:gdLst/>
            <a:ahLst/>
            <a:cxnLst/>
            <a:rect l="l" t="t" r="r" b="b"/>
            <a:pathLst>
              <a:path w="1655373" h="2014346">
                <a:moveTo>
                  <a:pt x="0" y="0"/>
                </a:moveTo>
                <a:lnTo>
                  <a:pt x="1655373" y="0"/>
                </a:lnTo>
                <a:lnTo>
                  <a:pt x="1655373" y="2014346"/>
                </a:lnTo>
                <a:lnTo>
                  <a:pt x="0" y="20143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26" b="-16526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6007907" y="1"/>
            <a:ext cx="2280093" cy="2014346"/>
          </a:xfrm>
          <a:custGeom>
            <a:avLst/>
            <a:gdLst/>
            <a:ahLst/>
            <a:cxnLst/>
            <a:rect l="l" t="t" r="r" b="b"/>
            <a:pathLst>
              <a:path w="2280093" h="2014346">
                <a:moveTo>
                  <a:pt x="0" y="0"/>
                </a:moveTo>
                <a:lnTo>
                  <a:pt x="2280094" y="0"/>
                </a:lnTo>
                <a:lnTo>
                  <a:pt x="2280094" y="2014346"/>
                </a:lnTo>
                <a:lnTo>
                  <a:pt x="0" y="20143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966" b="-6966"/>
            </a:stretch>
          </a:blipFill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148350-4A8A-EED5-7E93-B653EBCE85F1}"/>
              </a:ext>
            </a:extLst>
          </p:cNvPr>
          <p:cNvSpPr txBox="1"/>
          <p:nvPr/>
        </p:nvSpPr>
        <p:spPr>
          <a:xfrm>
            <a:off x="2514600" y="1485900"/>
            <a:ext cx="14325600" cy="7770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Alumni Connect is a web-based alumni tracking and networking system. 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centralized platform to connect colleges with their alumni. 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stores and manages alumni information in a secure database. 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Alumni can register, log in, and update their personal and professional profiles. 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can connect with their fellow graduates also . 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allows sharing of achievements, job opportunities, and career updates. 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interact with alumni for mentorship and career guidance. 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Administrators can manage alumni records, approve registrations, and post announcements. 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supports event management for alumni meets and college activities. 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generates reports to help the institution maintain accurate alumni records. 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enhances communication and collaboration between alumni, students, and the institution.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DDA5D1-E937-608F-0175-4245D572A4F3}"/>
              </a:ext>
            </a:extLst>
          </p:cNvPr>
          <p:cNvSpPr txBox="1"/>
          <p:nvPr/>
        </p:nvSpPr>
        <p:spPr>
          <a:xfrm>
            <a:off x="6477000" y="495300"/>
            <a:ext cx="91513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</p:spTree>
    <p:extLst>
      <p:ext uri="{BB962C8B-B14F-4D97-AF65-F5344CB8AC3E}">
        <p14:creationId xmlns:p14="http://schemas.microsoft.com/office/powerpoint/2010/main" val="1146007123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010400" y="202958"/>
            <a:ext cx="4958239" cy="1184264"/>
            <a:chOff x="-907415" y="0"/>
            <a:chExt cx="6610985" cy="15790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703570" cy="1393190"/>
            </a:xfrm>
            <a:custGeom>
              <a:avLst/>
              <a:gdLst/>
              <a:ahLst/>
              <a:cxnLst/>
              <a:rect l="l" t="t" r="r" b="b"/>
              <a:pathLst>
                <a:path w="5703570" h="1393190">
                  <a:moveTo>
                    <a:pt x="0" y="0"/>
                  </a:moveTo>
                  <a:lnTo>
                    <a:pt x="5703570" y="0"/>
                  </a:lnTo>
                  <a:lnTo>
                    <a:pt x="5703570" y="1393190"/>
                  </a:lnTo>
                  <a:lnTo>
                    <a:pt x="0" y="13931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-907415" y="42953"/>
              <a:ext cx="5703570" cy="153606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7920"/>
                </a:lnSpc>
              </a:pPr>
              <a:r>
                <a:rPr lang="en-US" sz="3600" b="1" spc="-15" dirty="0">
                  <a:solidFill>
                    <a:srgbClr val="FF0000"/>
                  </a:solidFill>
                  <a:latin typeface="Times New Roman" panose="02020603050405020304" pitchFamily="18" charset="0"/>
                  <a:ea typeface="Calibri (MS)"/>
                  <a:cs typeface="Times New Roman" panose="02020603050405020304" pitchFamily="18" charset="0"/>
                  <a:sym typeface="Calibri (MS)"/>
                </a:rPr>
                <a:t>Introduction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1536210"/>
            <a:ext cx="16230601" cy="8420929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algn="l">
              <a:lnSpc>
                <a:spcPts val="5159"/>
              </a:lnSpc>
            </a:pPr>
            <a:endParaRPr lang="en-US" sz="2499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4525DFF2-CD1D-5BF8-B72D-1984ADAED9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4911790"/>
            <a:ext cx="12877800" cy="822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>
              <a:lnSpc>
                <a:spcPct val="200000"/>
              </a:lnSpc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AB1C761C-991C-B022-1E23-DE36AF109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0" y="1680343"/>
            <a:ext cx="14097000" cy="58318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Alumni Tracking &amp; Networking Portal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a web-based application designed to connect alumni, students, and the institution on a single platform.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helps educational institutions maintain 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centralized database of alumni information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Alumni can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register, update their profiles, and share their professional achievements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interact with alumni for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mentorship, career guidance, internships, and job opportunities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portal provides features such as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networking, messaging, event notifications, and job postings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Administrators can efficiently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manage user accounts, announcements, and alumni records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76800" y="268579"/>
            <a:ext cx="12976668" cy="1184194"/>
            <a:chOff x="0" y="-185737"/>
            <a:chExt cx="17302223" cy="15789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311881" cy="1393188"/>
            </a:xfrm>
            <a:custGeom>
              <a:avLst/>
              <a:gdLst/>
              <a:ahLst/>
              <a:cxnLst/>
              <a:rect l="l" t="t" r="r" b="b"/>
              <a:pathLst>
                <a:path w="14311881" h="1393188">
                  <a:moveTo>
                    <a:pt x="0" y="0"/>
                  </a:moveTo>
                  <a:lnTo>
                    <a:pt x="14311881" y="0"/>
                  </a:lnTo>
                  <a:lnTo>
                    <a:pt x="14311881" y="1393188"/>
                  </a:lnTo>
                  <a:lnTo>
                    <a:pt x="0" y="13931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990341" y="-185737"/>
              <a:ext cx="14311882" cy="15360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7920"/>
                </a:lnSpc>
              </a:pPr>
              <a:r>
                <a:rPr lang="en-US" sz="3600" b="1" spc="-15" dirty="0">
                  <a:solidFill>
                    <a:srgbClr val="FF0000"/>
                  </a:solidFill>
                  <a:latin typeface="Times New Roman" panose="02020603050405020304" pitchFamily="18" charset="0"/>
                  <a:ea typeface="Calibri (MS)"/>
                  <a:cs typeface="Times New Roman" panose="02020603050405020304" pitchFamily="18" charset="0"/>
                  <a:sym typeface="Calibri (MS)"/>
                </a:rPr>
                <a:t>Objectives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676400" y="7505700"/>
            <a:ext cx="16521158" cy="8044793"/>
            <a:chOff x="0" y="0"/>
            <a:chExt cx="22028211" cy="1072639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028210" cy="10726390"/>
            </a:xfrm>
            <a:custGeom>
              <a:avLst/>
              <a:gdLst/>
              <a:ahLst/>
              <a:cxnLst/>
              <a:rect l="l" t="t" r="r" b="b"/>
              <a:pathLst>
                <a:path w="22028210" h="10726390">
                  <a:moveTo>
                    <a:pt x="0" y="0"/>
                  </a:moveTo>
                  <a:lnTo>
                    <a:pt x="22028210" y="0"/>
                  </a:lnTo>
                  <a:lnTo>
                    <a:pt x="22028210" y="10726390"/>
                  </a:lnTo>
                  <a:lnTo>
                    <a:pt x="0" y="107263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22028211" cy="1081211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999"/>
                </a:lnSpc>
              </a:pPr>
              <a:endPara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34C2BC2-2468-B41F-367F-697F4E00883A}"/>
              </a:ext>
            </a:extLst>
          </p:cNvPr>
          <p:cNvSpPr txBox="1"/>
          <p:nvPr/>
        </p:nvSpPr>
        <p:spPr>
          <a:xfrm>
            <a:off x="2514600" y="1592076"/>
            <a:ext cx="12468630" cy="7124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 alumni information.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communication and networking.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 jobs and event updates.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 institutional relationships. </a:t>
            </a:r>
          </a:p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and profile management.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Messaging and networking.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and job management.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Administrative control.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3CDAF7-8EE4-E8DF-C727-75C11B488AAA}"/>
              </a:ext>
            </a:extLst>
          </p:cNvPr>
          <p:cNvSpPr txBox="1"/>
          <p:nvPr/>
        </p:nvSpPr>
        <p:spPr>
          <a:xfrm>
            <a:off x="3996690" y="876300"/>
            <a:ext cx="91516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Motivation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7E8294-CE19-513E-62FC-F702CE49B523}"/>
              </a:ext>
            </a:extLst>
          </p:cNvPr>
          <p:cNvSpPr txBox="1"/>
          <p:nvPr/>
        </p:nvSpPr>
        <p:spPr>
          <a:xfrm>
            <a:off x="1981200" y="2550739"/>
            <a:ext cx="13182600" cy="5185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alumni record management.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communication between alumni and students.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track alumni achievements. </a:t>
            </a:r>
          </a:p>
          <a:p>
            <a:pPr>
              <a:lnSpc>
                <a:spcPct val="150000"/>
              </a:lnSpc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alumni engagement.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mentorship and career guidance.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strong alumni community.</a:t>
            </a:r>
          </a:p>
        </p:txBody>
      </p:sp>
    </p:spTree>
    <p:extLst>
      <p:ext uri="{BB962C8B-B14F-4D97-AF65-F5344CB8AC3E}">
        <p14:creationId xmlns:p14="http://schemas.microsoft.com/office/powerpoint/2010/main" val="1673512444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B8349-BBD2-9046-5CE8-986D9B8CC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0BB00FF-0253-9D2D-79CE-CB0F4608FF63}"/>
              </a:ext>
            </a:extLst>
          </p:cNvPr>
          <p:cNvGrpSpPr/>
          <p:nvPr/>
        </p:nvGrpSpPr>
        <p:grpSpPr>
          <a:xfrm>
            <a:off x="3863695" y="152995"/>
            <a:ext cx="12935215" cy="1428247"/>
            <a:chOff x="-279158" y="-450097"/>
            <a:chExt cx="16702343" cy="153606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7308B20-A04E-EB40-4053-FC601226C02B}"/>
                </a:ext>
              </a:extLst>
            </p:cNvPr>
            <p:cNvSpPr/>
            <p:nvPr/>
          </p:nvSpPr>
          <p:spPr>
            <a:xfrm>
              <a:off x="-279158" y="-378659"/>
              <a:ext cx="14311881" cy="1393188"/>
            </a:xfrm>
            <a:custGeom>
              <a:avLst/>
              <a:gdLst/>
              <a:ahLst/>
              <a:cxnLst/>
              <a:rect l="l" t="t" r="r" b="b"/>
              <a:pathLst>
                <a:path w="14311881" h="1393188">
                  <a:moveTo>
                    <a:pt x="0" y="0"/>
                  </a:moveTo>
                  <a:lnTo>
                    <a:pt x="14311881" y="0"/>
                  </a:lnTo>
                  <a:lnTo>
                    <a:pt x="14311881" y="1393188"/>
                  </a:lnTo>
                  <a:lnTo>
                    <a:pt x="0" y="13931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C27F703-54C8-26A8-CC31-129AEBDC4456}"/>
                </a:ext>
              </a:extLst>
            </p:cNvPr>
            <p:cNvSpPr txBox="1"/>
            <p:nvPr/>
          </p:nvSpPr>
          <p:spPr>
            <a:xfrm>
              <a:off x="2111303" y="-450097"/>
              <a:ext cx="14311882" cy="1536063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7920"/>
                </a:lnSpc>
              </a:pPr>
              <a:r>
                <a:rPr lang="en-IN" sz="36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Literature Review </a:t>
              </a:r>
              <a:endParaRPr lang="en-US" sz="3600" b="1" spc="-15" dirty="0">
                <a:solidFill>
                  <a:srgbClr val="FF0000"/>
                </a:solidFill>
                <a:latin typeface="Times New Roman" panose="02020603050405020304" pitchFamily="18" charset="0"/>
                <a:ea typeface="Calibri (MS)"/>
                <a:cs typeface="Times New Roman" panose="02020603050405020304" pitchFamily="18" charset="0"/>
                <a:sym typeface="Calibri (MS)"/>
              </a:endParaRPr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E75B790D-76DE-745D-92BF-4C9F75560A03}"/>
              </a:ext>
            </a:extLst>
          </p:cNvPr>
          <p:cNvGrpSpPr/>
          <p:nvPr/>
        </p:nvGrpSpPr>
        <p:grpSpPr>
          <a:xfrm>
            <a:off x="-1676400" y="7505700"/>
            <a:ext cx="16521158" cy="8044793"/>
            <a:chOff x="0" y="0"/>
            <a:chExt cx="22028211" cy="1072639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D7A169B-04B4-02FF-E95A-2AC42BED63E1}"/>
                </a:ext>
              </a:extLst>
            </p:cNvPr>
            <p:cNvSpPr/>
            <p:nvPr/>
          </p:nvSpPr>
          <p:spPr>
            <a:xfrm>
              <a:off x="0" y="0"/>
              <a:ext cx="22028210" cy="10726390"/>
            </a:xfrm>
            <a:custGeom>
              <a:avLst/>
              <a:gdLst/>
              <a:ahLst/>
              <a:cxnLst/>
              <a:rect l="l" t="t" r="r" b="b"/>
              <a:pathLst>
                <a:path w="22028210" h="10726390">
                  <a:moveTo>
                    <a:pt x="0" y="0"/>
                  </a:moveTo>
                  <a:lnTo>
                    <a:pt x="22028210" y="0"/>
                  </a:lnTo>
                  <a:lnTo>
                    <a:pt x="22028210" y="10726390"/>
                  </a:lnTo>
                  <a:lnTo>
                    <a:pt x="0" y="107263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F6F577C9-74DF-5561-E31A-83464A700990}"/>
                </a:ext>
              </a:extLst>
            </p:cNvPr>
            <p:cNvSpPr txBox="1"/>
            <p:nvPr/>
          </p:nvSpPr>
          <p:spPr>
            <a:xfrm>
              <a:off x="0" y="-85725"/>
              <a:ext cx="22028211" cy="1081211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2999"/>
                </a:lnSpc>
              </a:pPr>
              <a:endParaRPr lang="en-US" sz="24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7CA911B-EB11-9BF9-9874-D9C94A2D9A0A}"/>
              </a:ext>
            </a:extLst>
          </p:cNvPr>
          <p:cNvSpPr txBox="1"/>
          <p:nvPr/>
        </p:nvSpPr>
        <p:spPr>
          <a:xfrm>
            <a:off x="1638300" y="1943100"/>
            <a:ext cx="15011400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5CA3D03-8BD6-DF52-EAB9-CD794E853A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6473666"/>
              </p:ext>
            </p:extLst>
          </p:nvPr>
        </p:nvGraphicFramePr>
        <p:xfrm>
          <a:off x="3200400" y="1181101"/>
          <a:ext cx="14096999" cy="8547924"/>
        </p:xfrm>
        <a:graphic>
          <a:graphicData uri="http://schemas.openxmlformats.org/drawingml/2006/table">
            <a:tbl>
              <a:tblPr/>
              <a:tblGrid>
                <a:gridCol w="1754295">
                  <a:extLst>
                    <a:ext uri="{9D8B030D-6E8A-4147-A177-3AD203B41FA5}">
                      <a16:colId xmlns:a16="http://schemas.microsoft.com/office/drawing/2014/main" val="824300532"/>
                    </a:ext>
                  </a:extLst>
                </a:gridCol>
                <a:gridCol w="3085676">
                  <a:extLst>
                    <a:ext uri="{9D8B030D-6E8A-4147-A177-3AD203B41FA5}">
                      <a16:colId xmlns:a16="http://schemas.microsoft.com/office/drawing/2014/main" val="1142941332"/>
                    </a:ext>
                  </a:extLst>
                </a:gridCol>
                <a:gridCol w="3085676">
                  <a:extLst>
                    <a:ext uri="{9D8B030D-6E8A-4147-A177-3AD203B41FA5}">
                      <a16:colId xmlns:a16="http://schemas.microsoft.com/office/drawing/2014/main" val="3146136644"/>
                    </a:ext>
                  </a:extLst>
                </a:gridCol>
                <a:gridCol w="3085676">
                  <a:extLst>
                    <a:ext uri="{9D8B030D-6E8A-4147-A177-3AD203B41FA5}">
                      <a16:colId xmlns:a16="http://schemas.microsoft.com/office/drawing/2014/main" val="1409535922"/>
                    </a:ext>
                  </a:extLst>
                </a:gridCol>
                <a:gridCol w="3085676">
                  <a:extLst>
                    <a:ext uri="{9D8B030D-6E8A-4147-A177-3AD203B41FA5}">
                      <a16:colId xmlns:a16="http://schemas.microsoft.com/office/drawing/2014/main" val="1645774984"/>
                    </a:ext>
                  </a:extLst>
                </a:gridCol>
              </a:tblGrid>
              <a:tr h="30862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No.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347" marR="17347" marT="8673" marB="86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347" marR="17347" marT="8673" marB="86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347" marR="17347" marT="8673" marB="86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the Paper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347" marR="17347" marT="8673" marB="86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347" marR="17347" marT="8673" marB="86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5661874"/>
                  </a:ext>
                </a:extLst>
              </a:tr>
              <a:tr h="19203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17347" marR="17347" marT="8673" marB="86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347" marR="17347" marT="8673" marB="86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Raphael Enihe &amp; Victor Omopariola</a:t>
                      </a:r>
                    </a:p>
                  </a:txBody>
                  <a:tcPr marL="17347" marR="17347" marT="8673" marB="86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Alumni Portal System for Nigerian Universities: A Case Study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347" marR="17347" marT="8673" marB="86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a web-based alumni portal that improves alumni registration, profile management, communication, and event participation.</a:t>
                      </a:r>
                    </a:p>
                  </a:txBody>
                  <a:tcPr marL="17347" marR="17347" marT="8673" marB="86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4570108"/>
                  </a:ext>
                </a:extLst>
              </a:tr>
              <a:tr h="19203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347" marR="17347" marT="8673" marB="86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347" marR="17347" marT="8673" marB="86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Sarah Mae Rubejes-Silva</a:t>
                      </a:r>
                    </a:p>
                  </a:txBody>
                  <a:tcPr marL="17347" marR="17347" marT="8673" marB="86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Bridging the Gap Between Universities and Alumni: A User-Centered Evaluation of a Digital Alumni Engagement Platform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347" marR="17347" marT="8673" marB="86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Evaluated a digital alumni platform and found improved user satisfaction, better communication, and stronger alumni engagement.</a:t>
                      </a:r>
                    </a:p>
                  </a:txBody>
                  <a:tcPr marL="17347" marR="17347" marT="8673" marB="86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316034"/>
                  </a:ext>
                </a:extLst>
              </a:tr>
              <a:tr h="21925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347" marR="17347" marT="8673" marB="86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347" marR="17347" marT="8673" marB="86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Diamanto Politis et al.</a:t>
                      </a:r>
                    </a:p>
                  </a:txBody>
                  <a:tcPr marL="17347" marR="17347" marT="8673" marB="86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Re-viewing Entrepreneurial Universities through Alumni Engagement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347" marR="17347" marT="8673" marB="86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Highlighted the importance of alumni engagement in supporting university growth, innovation, networking, and long-term institutional development.</a:t>
                      </a:r>
                    </a:p>
                  </a:txBody>
                  <a:tcPr marL="17347" marR="17347" marT="8673" marB="86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363557"/>
                  </a:ext>
                </a:extLst>
              </a:tr>
              <a:tr h="21925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347" marR="17347" marT="8673" marB="86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347" marR="17347" marT="8673" marB="86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Gonzalo Valentín Alfaro Rojas &amp; Juan Pedro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Soplapuco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-Montalvo</a:t>
                      </a:r>
                    </a:p>
                  </a:txBody>
                  <a:tcPr marL="17347" marR="17347" marT="8673" marB="86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Trends in Alumni Networks: A Systematic Review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7347" marR="17347" marT="8673" marB="86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Reviewed recent alumni network systems and concluded that digital platforms improve networking, employability, mentorship, and alumni-institution relationships.</a:t>
                      </a:r>
                    </a:p>
                  </a:txBody>
                  <a:tcPr marL="17347" marR="17347" marT="8673" marB="867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0838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903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BC50BF8-75F8-192E-7FBF-FAE3022C824E}"/>
              </a:ext>
            </a:extLst>
          </p:cNvPr>
          <p:cNvSpPr txBox="1"/>
          <p:nvPr/>
        </p:nvSpPr>
        <p:spPr>
          <a:xfrm>
            <a:off x="4343400" y="419100"/>
            <a:ext cx="1295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spcAft>
                <a:spcPts val="600"/>
              </a:spcAft>
            </a:pPr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 &amp; System Architecture</a:t>
            </a:r>
            <a:endParaRPr lang="en-IN" sz="3200" b="1" i="0" dirty="0"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B9F679-C952-4D39-9ADB-1C6E32071C01}"/>
              </a:ext>
            </a:extLst>
          </p:cNvPr>
          <p:cNvSpPr txBox="1"/>
          <p:nvPr/>
        </p:nvSpPr>
        <p:spPr>
          <a:xfrm>
            <a:off x="2057400" y="2782650"/>
            <a:ext cx="9715500" cy="5174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XAMPP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938F1F-FC91-F759-8B91-4B6984127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940807"/>
            <a:ext cx="9478857" cy="51744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56177E0-516F-561E-C306-AF4A2C36A8CD}"/>
              </a:ext>
            </a:extLst>
          </p:cNvPr>
          <p:cNvSpPr txBox="1"/>
          <p:nvPr/>
        </p:nvSpPr>
        <p:spPr>
          <a:xfrm>
            <a:off x="7543800" y="1573331"/>
            <a:ext cx="9151620" cy="1196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>
              <a:lnSpc>
                <a:spcPct val="150000"/>
              </a:lnSpc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Users → Web Application → Database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4066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A7631A-FEC9-58FC-0AF9-DE51EBE95C3D}"/>
              </a:ext>
            </a:extLst>
          </p:cNvPr>
          <p:cNvSpPr txBox="1"/>
          <p:nvPr/>
        </p:nvSpPr>
        <p:spPr>
          <a:xfrm>
            <a:off x="1981200" y="1048392"/>
            <a:ext cx="8382000" cy="90635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Alumni, students, and administrators can register and securely log in to the system.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 with encrypted passwords, password reset, and session management.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Create, view, and update personal profile information.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and update educational qualifications, graduation year, and professional details.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 profile photos and resumes/CVs for complete profile management.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control to provide different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permissions for Admin, Alumni, and Student users.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4F1723-C95F-F7BD-6F60-6DA219C946B5}"/>
              </a:ext>
            </a:extLst>
          </p:cNvPr>
          <p:cNvSpPr txBox="1"/>
          <p:nvPr/>
        </p:nvSpPr>
        <p:spPr>
          <a:xfrm>
            <a:off x="2362200" y="192782"/>
            <a:ext cx="12885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Authentication &amp; Profile Management Module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7CFD9B-AD1F-F62D-0A3D-721BF4594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1331" y="1048392"/>
            <a:ext cx="7777623" cy="4095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1A9F65-A3E3-B550-5994-7A9E9CB95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1331" y="6362700"/>
            <a:ext cx="7777623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83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BC3BB6-EE38-D218-26C0-CA635C5C01CC}"/>
              </a:ext>
            </a:extLst>
          </p:cNvPr>
          <p:cNvSpPr txBox="1"/>
          <p:nvPr/>
        </p:nvSpPr>
        <p:spPr>
          <a:xfrm>
            <a:off x="2743200" y="1035487"/>
            <a:ext cx="11734800" cy="5185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a centralized and up-to-date alumni database.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alumni by batch, department, graduation year, company, or location.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alumni career progress, achievements, and professional growth.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alumni profiles, educational details, and contact information.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 and sort alumni records for quick and easy access.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alumni tracking reports for institutional analysis and record management.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F0FF7C-232A-5DDA-E057-13C5CFCB461E}"/>
              </a:ext>
            </a:extLst>
          </p:cNvPr>
          <p:cNvSpPr txBox="1"/>
          <p:nvPr/>
        </p:nvSpPr>
        <p:spPr>
          <a:xfrm>
            <a:off x="3581400" y="342900"/>
            <a:ext cx="113611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2: Alumni Directory &amp; Tracking Module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B7B674-E732-8200-54CE-97A8F9519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200" y="5448300"/>
            <a:ext cx="10363200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02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9CDC94-BE2D-1563-4ED7-912CCC6C5874}"/>
              </a:ext>
            </a:extLst>
          </p:cNvPr>
          <p:cNvSpPr txBox="1"/>
          <p:nvPr/>
        </p:nvSpPr>
        <p:spPr>
          <a:xfrm>
            <a:off x="2438400" y="1562100"/>
            <a:ext cx="13106400" cy="4539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and receive messages between alumni, students, and administrators.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Participate in discussion forums and community groups for knowledge sharing.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with alumni for mentorship, career guidance, and professional networking.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 notifications for events, announcements, and important updates.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 achievements, experiences, and success stories with the alumni community.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and maintain professional connections through the networking platform.</a:t>
            </a:r>
          </a:p>
          <a:p>
            <a:pPr>
              <a:lnSpc>
                <a:spcPct val="150000"/>
              </a:lnSpc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AEFEEA-190F-1CE3-2188-042FE69D5BCC}"/>
              </a:ext>
            </a:extLst>
          </p:cNvPr>
          <p:cNvSpPr txBox="1"/>
          <p:nvPr/>
        </p:nvSpPr>
        <p:spPr>
          <a:xfrm>
            <a:off x="3352800" y="495300"/>
            <a:ext cx="105229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3: Networking &amp; Communication Module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4842BC-5C5E-0905-0DEF-5875B2A0B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3787" y="5448300"/>
            <a:ext cx="10820400" cy="471836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598471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38DC98-F6CF-EE7D-10CC-9FE355983CED}"/>
              </a:ext>
            </a:extLst>
          </p:cNvPr>
          <p:cNvSpPr txBox="1"/>
          <p:nvPr/>
        </p:nvSpPr>
        <p:spPr>
          <a:xfrm>
            <a:off x="2973643" y="1409700"/>
            <a:ext cx="11658600" cy="5185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 and manage alumni events, reunions, workshops, and webinars.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 internship, job, and career opportunities for alumni and students.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students and alumni to apply for available job and internship openings.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online event registration and participation tracking.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upcoming events with schedules, venue details, and announcements.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records of event participants and job applications for future reference.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CD18ED-42F6-2F32-8E0F-3E82E98B7416}"/>
              </a:ext>
            </a:extLst>
          </p:cNvPr>
          <p:cNvSpPr txBox="1"/>
          <p:nvPr/>
        </p:nvSpPr>
        <p:spPr>
          <a:xfrm>
            <a:off x="3886200" y="583168"/>
            <a:ext cx="98334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4: Events &amp; Job Opportunities Module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9C0A7C-8291-795C-49D1-9C3035C16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5981700"/>
            <a:ext cx="10287000" cy="4268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0266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48DC76-76B7-F93E-EA10-4FCBFB8FF54A}"/>
              </a:ext>
            </a:extLst>
          </p:cNvPr>
          <p:cNvSpPr txBox="1"/>
          <p:nvPr/>
        </p:nvSpPr>
        <p:spPr>
          <a:xfrm>
            <a:off x="2286000" y="1790700"/>
            <a:ext cx="13182600" cy="6304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centralized platform for managing alumni information efficiently.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Strengthens communication and networking between alumni, students, and the institution.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Simplifies alumni tracking, profile management, and career updates.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event management, job opportunities, and mentorship programs.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paperwork and improves the accuracy and security of alumni records.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long-term alumni engagement and contributes to the overall growth and reputation of the institution.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5EAF3-07AF-BA68-A26F-5133B36860BD}"/>
              </a:ext>
            </a:extLst>
          </p:cNvPr>
          <p:cNvSpPr txBox="1"/>
          <p:nvPr/>
        </p:nvSpPr>
        <p:spPr>
          <a:xfrm>
            <a:off x="6934200" y="190500"/>
            <a:ext cx="129501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8975263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98C098-A620-3155-CC02-6C9E1A37195E}"/>
              </a:ext>
            </a:extLst>
          </p:cNvPr>
          <p:cNvSpPr txBox="1"/>
          <p:nvPr/>
        </p:nvSpPr>
        <p:spPr>
          <a:xfrm>
            <a:off x="2133600" y="2400300"/>
            <a:ext cx="11430000" cy="5831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mobile application for Android and iOS platforms.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email and SMS notifications for events, jobs, and announcements.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AI-based alumni recommendations for networking and mentorship.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real-time chat and video meeting features for better communication.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online donation and fundraising modules for alumni contributions.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with social media platforms such as LinkedIn for automatic profile updates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BAD7DC-F7F8-C86E-E5C7-63B2CCC3C0A4}"/>
              </a:ext>
            </a:extLst>
          </p:cNvPr>
          <p:cNvSpPr txBox="1"/>
          <p:nvPr/>
        </p:nvSpPr>
        <p:spPr>
          <a:xfrm>
            <a:off x="6096000" y="647700"/>
            <a:ext cx="91513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</p:spTree>
    <p:extLst>
      <p:ext uri="{BB962C8B-B14F-4D97-AF65-F5344CB8AC3E}">
        <p14:creationId xmlns:p14="http://schemas.microsoft.com/office/powerpoint/2010/main" val="171635010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2FAB75-1918-0829-8195-AF5385BE3F9A}"/>
              </a:ext>
            </a:extLst>
          </p:cNvPr>
          <p:cNvSpPr txBox="1"/>
          <p:nvPr/>
        </p:nvSpPr>
        <p:spPr>
          <a:xfrm>
            <a:off x="2438400" y="1485900"/>
            <a:ext cx="12039600" cy="7770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Enihe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R., &amp;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Omopariola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V. (2023). </a:t>
            </a:r>
            <a:r>
              <a:rPr lang="en-I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Alumni Portal System for Nigerian Universities: A Case Study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International Journal of Scientific Research.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Sanusi, D. M., et al. (2023). </a:t>
            </a:r>
            <a:r>
              <a:rPr lang="en-I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Interactive Alumni Tracking Dashboard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IEEE International Conference on Artificial Intelligence, Computing and Information Systems.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Implementation of an Alumni Management System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(2023). IEEE Conference Proceedings.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Rubejes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-Silva, S. M. (2024). </a:t>
            </a:r>
            <a:r>
              <a:rPr lang="en-I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Bridging the Gap Between Universities and Alumni: A User-</a:t>
            </a:r>
            <a:r>
              <a:rPr lang="en-I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Centered</a:t>
            </a:r>
            <a:r>
              <a:rPr lang="en-I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Evaluation of a Digital Alumni Engagement Platform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ResearchGate Publication.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Politis, D., et al. (2024). </a:t>
            </a:r>
            <a:r>
              <a:rPr lang="en-I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Re-viewing Entrepreneurial Universities through Alumni Engagement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Small Business Economics, Springer.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AB5DF0-5D7B-0D0F-9687-810AE9064D9E}"/>
              </a:ext>
            </a:extLst>
          </p:cNvPr>
          <p:cNvSpPr txBox="1"/>
          <p:nvPr/>
        </p:nvSpPr>
        <p:spPr>
          <a:xfrm>
            <a:off x="6400800" y="342900"/>
            <a:ext cx="91513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4016678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33999" y="2857500"/>
            <a:ext cx="10058400" cy="5951120"/>
            <a:chOff x="-508517" y="0"/>
            <a:chExt cx="5584707" cy="41462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76190" cy="3100834"/>
            </a:xfrm>
            <a:custGeom>
              <a:avLst/>
              <a:gdLst/>
              <a:ahLst/>
              <a:cxnLst/>
              <a:rect l="l" t="t" r="r" b="b"/>
              <a:pathLst>
                <a:path w="5076190" h="3100834">
                  <a:moveTo>
                    <a:pt x="0" y="0"/>
                  </a:moveTo>
                  <a:lnTo>
                    <a:pt x="5076190" y="0"/>
                  </a:lnTo>
                  <a:lnTo>
                    <a:pt x="5076190" y="3100834"/>
                  </a:lnTo>
                  <a:lnTo>
                    <a:pt x="0" y="31008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-508517" y="902524"/>
              <a:ext cx="5076190" cy="324370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7920"/>
                </a:lnSpc>
              </a:pPr>
              <a:r>
                <a:rPr lang="en-US" sz="8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ea typeface="Calibri (MS)"/>
                  <a:cs typeface="Times New Roman" panose="02020603050405020304" pitchFamily="18" charset="0"/>
                  <a:sym typeface="Calibri (MS)"/>
                </a:rPr>
                <a:t>Thank You!</a:t>
              </a:r>
            </a:p>
          </p:txBody>
        </p:sp>
      </p:grp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805</TotalTime>
  <Words>1155</Words>
  <Application>Microsoft Office PowerPoint</Application>
  <PresentationFormat>Custom</PresentationFormat>
  <Paragraphs>141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Times New Roman</vt:lpstr>
      <vt:lpstr>Arial</vt:lpstr>
      <vt:lpstr>Wingdings</vt:lpstr>
      <vt:lpstr>Calibri</vt:lpstr>
      <vt:lpstr>Corbel</vt:lpstr>
      <vt:lpstr>Calibri (MS)</vt:lpstr>
      <vt:lpstr>Parallax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Capstone_Project_Title (1).pptx</dc:title>
  <dc:creator>MALREDDY PEDABALLI</dc:creator>
  <cp:lastModifiedBy>gagguturi shareef</cp:lastModifiedBy>
  <cp:revision>25</cp:revision>
  <dcterms:created xsi:type="dcterms:W3CDTF">2006-08-16T00:00:00Z</dcterms:created>
  <dcterms:modified xsi:type="dcterms:W3CDTF">2026-07-28T05:06:26Z</dcterms:modified>
  <dc:identifier>DAGgBin66dc</dc:identifier>
</cp:coreProperties>
</file>